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PRIAM stands for Policy, Risk, Incident, Asset, Management — a single platform built specifically for small businesses. Today: what we built, why it matters, and how it works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reality check. Lost laptops, phishing emails, supplier breaches, missed renewals — these aren't enterprise problems. They happen to small businesses every week. Most just don't have a way to track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companies have GRC teams, audit committees, full-time risk officers. SMBs have… a shared spreadsheet, if anything. We built PRIAM for the 99% of businesses that fall into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PRIAM gives you four connected modules: policy, risk, incident, and asset management — each lightweight enough to use day one, integrated enough to give you a single source of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letters aren't just branding. They map to five real workflows that share data. A policy references an asset. An incident triggers a risk re-assessment. Everything feeds the same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Policies as living documents, not PDFs in a binder. Draft, publish, version, acknowledge — and your team sees them where they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assessments adapt to your industry. Pick your NAICS code, answer the questions that actually apply to you. No 400-question generic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assessment, you get a clear number, a category breakdown, and a likelihood-vs-impact matrix. Plus a prioritized list of fixes — not just 'you have problems'.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incident — a lost phone, a phishing click, a customer complaint — moves through a queue with a clear owner at every step. Submitted, assigned, active, resolved,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Patterns matter more than individual events. Three lost devices in a month is a procurement problem. PRIAM shows you the trend, not just the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assets — employees, customers, suppliers, devices, vehicles — all live in one place. When an incident references a customer or device, you see it linked.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PRIAM ships with an annual HIPAA and Data Privacy Assessment for the front-line teams who actually handle protected health information. Twenty-five questions, thirty minutes, eighty percent to pass — and a certificate the moment you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questions are written in plain language around the situations social-services teams actually face. Saved as you go, with a question palette so participants can jump straight to whatever they haven't answered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Whether someone passes or not, every question gets an explanation — so the assessment doubles as training. Retakes are one click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admin side, compliance leads get a live dashboard: who's been invited, who's in progress, who's completed, who's failed — plus pass rate and average score. Drill-downs by company, participant, and report make it easy to chase the last few stragglers before a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Behind the four main modules sits a single admin portal. From here you author master policy templates, define recommendation rules, and import from a built-in catalog of twelve ready-made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flow is: author a template once with placeholders. Attach rules — NAICS code, state, business flags. Tenants then see only the policies that match their profile, with placeholders ready for their company-specific values. Or skip the authoring entirely and import from the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built-in roles cover almost every SMB org chart. Employees can add records, but admins approve them. No custom IAM project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new tenant is up and running in under five minutes. Industry, state, operational characteristics — that's the entire signup, and the questionnaire is already tailored.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how a small operations team actually uses PRIAM across a typical week. Mostly quick check-ins, with the occasional deeper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us. Simple, intuitive, queue-based incidents, adaptive questionnaires — and a real assembly of productive functions instead of one narrow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Multi-tenant by design. Every record carries a tenant ID; isolation is enforced at the database query level, not bolted on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Firebase auth, RBAC at the API layer, immutable audit trails on every assessment. Boring, dependable security primitives — the kind we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coming next. Profile change workflows, deeper notifications, more industry packs, and an open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you're a small business owner, an ops lead, or a founder wearing the compliance hat — this is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to start: a self-serve trial or a 20-minute walkthrough with us.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82017" cy="10287000"/>
          </a:xfrm>
          <a:prstGeom prst="rect">
            <a:avLst/>
          </a:prstGeom>
          <a:solidFill>
            <a:srgbClr val="F7F4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1047750"/>
            <a:ext cx="1769745" cy="514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2346960"/>
            <a:ext cx="80152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&amp; ASSET MANAGEMENT FOR SMALL BUSINESS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047750" y="3421380"/>
            <a:ext cx="8015219" cy="2992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250" spc="-206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Risk visibility, </a:t>
            </a:r>
            <a:pPr algn="l" indent="0" marL="0">
              <a:lnSpc>
                <a:spcPct val="94000"/>
              </a:lnSpc>
              <a:buNone/>
            </a:pPr>
            <a:r>
              <a:rPr lang="en-US" sz="8250" i="1" spc="-206" kern="0" dirty="0">
                <a:solidFill>
                  <a:srgbClr val="0F6E5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without the GRC team.</a:t>
            </a:r>
            <a:endParaRPr lang="en-US" sz="8250" dirty="0"/>
          </a:p>
        </p:txBody>
      </p:sp>
      <p:sp>
        <p:nvSpPr>
          <p:cNvPr id="6" name="Text 3"/>
          <p:cNvSpPr/>
          <p:nvPr/>
        </p:nvSpPr>
        <p:spPr>
          <a:xfrm>
            <a:off x="1047750" y="7160895"/>
            <a:ext cx="4744479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50" i="1" dirty="0">
                <a:solidFill>
                  <a:srgbClr val="2A303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Policy. Risk. Incident. Asset.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1047750" y="8465820"/>
            <a:ext cx="4887062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A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— sized for the way small businesses actually work.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782017" y="0"/>
            <a:ext cx="8505984" cy="10287000"/>
          </a:xfrm>
          <a:prstGeom prst="rect">
            <a:avLst/>
          </a:prstGeom>
          <a:solidFill>
            <a:srgbClr val="07382C"/>
          </a:solidFill>
          <a:ln/>
        </p:spPr>
      </p:sp>
      <p:sp>
        <p:nvSpPr>
          <p:cNvPr id="9" name="Shape 6"/>
          <p:cNvSpPr/>
          <p:nvPr/>
        </p:nvSpPr>
        <p:spPr>
          <a:xfrm>
            <a:off x="9782017" y="0"/>
            <a:ext cx="8505984" cy="10287000"/>
          </a:xfrm>
          <a:prstGeom prst="rect">
            <a:avLst/>
          </a:prstGeom>
          <a:solidFill>
            <a:srgbClr val="FDBA74">
              <a:alpha val="18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7929" y="2476500"/>
            <a:ext cx="53340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66782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REALITY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55420"/>
            <a:ext cx="8414680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risks small businesses face every day.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99205"/>
            <a:ext cx="4929188" cy="5649595"/>
          </a:xfrm>
          <a:prstGeom prst="roundRect">
            <a:avLst>
              <a:gd name="adj" fmla="val 3092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1120" y="4111625"/>
            <a:ext cx="447272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F4F1EA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VERIZON DBIR — 2024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41120" y="4481195"/>
            <a:ext cx="4472721" cy="870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00" spc="-138" kern="0" dirty="0">
                <a:solidFill>
                  <a:srgbClr val="FDBA7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43%</a:t>
            </a:r>
            <a:endParaRPr lang="en-US" sz="6900" dirty="0"/>
          </a:p>
        </p:txBody>
      </p:sp>
      <p:sp>
        <p:nvSpPr>
          <p:cNvPr id="7" name="Text 5"/>
          <p:cNvSpPr/>
          <p:nvPr/>
        </p:nvSpPr>
        <p:spPr>
          <a:xfrm>
            <a:off x="1341120" y="8869680"/>
            <a:ext cx="44727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cyber incidents target small businesses.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6488" y="3799205"/>
            <a:ext cx="4929188" cy="5649595"/>
          </a:xfrm>
          <a:prstGeom prst="roundRect">
            <a:avLst>
              <a:gd name="adj" fmla="val 3092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9857" y="4111625"/>
            <a:ext cx="447272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F4F1EA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U.S. BANK STUDY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79857" y="4481195"/>
            <a:ext cx="4472721" cy="870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00" spc="-138" kern="0" dirty="0">
                <a:solidFill>
                  <a:srgbClr val="FDBA7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82%</a:t>
            </a:r>
            <a:endParaRPr lang="en-US" sz="6900" dirty="0"/>
          </a:p>
        </p:txBody>
      </p:sp>
      <p:sp>
        <p:nvSpPr>
          <p:cNvPr id="11" name="Text 9"/>
          <p:cNvSpPr/>
          <p:nvPr/>
        </p:nvSpPr>
        <p:spPr>
          <a:xfrm>
            <a:off x="6479857" y="8602980"/>
            <a:ext cx="44727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small businesses fail due to cash-flow and operational risk.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325225" y="3799205"/>
            <a:ext cx="5915025" cy="5649595"/>
          </a:xfrm>
          <a:prstGeom prst="roundRect">
            <a:avLst>
              <a:gd name="adj" fmla="val 2698"/>
            </a:avLst>
          </a:prstGeom>
          <a:solidFill>
            <a:srgbClr val="FB923C">
              <a:alpha val="18000"/>
            </a:srgbClr>
          </a:solidFill>
          <a:ln w="7620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8595" y="4111625"/>
            <a:ext cx="548813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ACROSS THE WEEK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8595" y="4424045"/>
            <a:ext cx="5488134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lost laptop. A phishing click. A supplier outage. A missed policy renewal. A customer data request.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1618595" y="6001385"/>
            <a:ext cx="5488134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small on its own. Together, they're a business.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47750" y="9745980"/>
            <a:ext cx="171608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PRIAM </a:t>
            </a:r>
            <a:pPr algn="l" indent="0" marL="0">
              <a:buNone/>
            </a:pPr>
            <a:r>
              <a:rPr lang="en-US" sz="1200" spc="192" kern="0" dirty="0">
                <a:solidFill>
                  <a:srgbClr val="F4F1EA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8E8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2067243"/>
            <a:ext cx="72097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GAP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2608262"/>
            <a:ext cx="7209756" cy="3049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Big companies have GRC teams. Small businesses have a spreadsheet.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6038533"/>
            <a:ext cx="5237633" cy="2066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2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software is built for enterprises with full-time officers, audit committees, and six-figure software budgets. SMBs need the same outcomes — without any of that.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90513" y="1963103"/>
            <a:ext cx="8049737" cy="1998345"/>
          </a:xfrm>
          <a:prstGeom prst="roundRect">
            <a:avLst>
              <a:gd name="adj" fmla="val 8580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79134" y="2351722"/>
            <a:ext cx="74906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Enterprise GRC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79134" y="2812732"/>
            <a:ext cx="7490671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$60k+/year, 6-month rollout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79134" y="3328988"/>
            <a:ext cx="74906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compliance officers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90513" y="4190047"/>
            <a:ext cx="8049737" cy="1998345"/>
          </a:xfrm>
          <a:prstGeom prst="roundRect">
            <a:avLst>
              <a:gd name="adj" fmla="val 8580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9134" y="4578668"/>
            <a:ext cx="74906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5A62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SMB Reality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79134" y="5039677"/>
            <a:ext cx="7490671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shared Google Sheet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579134" y="5555932"/>
            <a:ext cx="74906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anything at all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190513" y="6416993"/>
            <a:ext cx="8049737" cy="1983105"/>
          </a:xfrm>
          <a:prstGeom prst="roundRect">
            <a:avLst>
              <a:gd name="adj" fmla="val 8646"/>
            </a:avLst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9571513" y="6797993"/>
            <a:ext cx="750636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C4EC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PRIAM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71513" y="7259002"/>
            <a:ext cx="7506369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Day-one usable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9571513" y="7775257"/>
            <a:ext cx="750636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way SMBs work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3946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37653" y="914400"/>
            <a:ext cx="19869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PLATFORM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3182704" cy="4573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94"/>
              </a:lnSpc>
              <a:buNone/>
            </a:pPr>
            <a:r>
              <a:rPr lang="en-US" sz="9300" spc="-260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single platform for everything that </a:t>
            </a:r>
            <a:pPr algn="l" indent="0" marL="0">
              <a:lnSpc>
                <a:spcPct val="95994"/>
              </a:lnSpc>
              <a:buNone/>
            </a:pPr>
            <a:r>
              <a:rPr lang="en-US" sz="9300" i="1" spc="-260" kern="0" dirty="0">
                <a:solidFill>
                  <a:srgbClr val="5DCAA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might go wrong </a:t>
            </a:r>
            <a:pPr algn="l" indent="0" marL="0">
              <a:lnSpc>
                <a:spcPct val="95994"/>
              </a:lnSpc>
              <a:buNone/>
            </a:pPr>
            <a:r>
              <a:rPr lang="en-US" sz="9300" spc="-260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—and everything you own.</a:t>
            </a:r>
            <a:endParaRPr lang="en-US" sz="9300" dirty="0"/>
          </a:p>
        </p:txBody>
      </p:sp>
      <p:sp>
        <p:nvSpPr>
          <p:cNvPr id="5" name="Text 3"/>
          <p:cNvSpPr/>
          <p:nvPr/>
        </p:nvSpPr>
        <p:spPr>
          <a:xfrm>
            <a:off x="1047750" y="6619240"/>
            <a:ext cx="7529097" cy="125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2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lightweight modules. One shared system of record. Designed so a five-person team and a fifty-person team can both use it from week one.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750" y="9745980"/>
            <a:ext cx="171608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PRIAM </a:t>
            </a:r>
            <a:pPr algn="l" indent="0" marL="0">
              <a:buNone/>
            </a:pPr>
            <a:r>
              <a:rPr lang="en-US" sz="1200" spc="192" kern="0" dirty="0">
                <a:solidFill>
                  <a:srgbClr val="F4F1EA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3946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37653" y="914400"/>
            <a:ext cx="182768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ACRONYM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1219573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Five letters. Five connected workflows.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875405"/>
            <a:ext cx="3070860" cy="4130040"/>
          </a:xfrm>
          <a:prstGeom prst="roundRect">
            <a:avLst>
              <a:gd name="adj" fmla="val 5583"/>
            </a:avLst>
          </a:prstGeom>
          <a:solidFill>
            <a:srgbClr val="18233D"/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0170" y="4225925"/>
            <a:ext cx="2522220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750" spc="-390" kern="0" dirty="0">
                <a:solidFill>
                  <a:srgbClr val="5DCAA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</a:t>
            </a:r>
            <a:endParaRPr lang="en-US" sz="9750" dirty="0"/>
          </a:p>
        </p:txBody>
      </p:sp>
      <p:sp>
        <p:nvSpPr>
          <p:cNvPr id="7" name="Text 5"/>
          <p:cNvSpPr/>
          <p:nvPr/>
        </p:nvSpPr>
        <p:spPr>
          <a:xfrm>
            <a:off x="1360170" y="5411788"/>
            <a:ext cx="252222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Policy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60170" y="5948997"/>
            <a:ext cx="252222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Draft, publish, version, and track acknowledgement.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328160" y="3875405"/>
            <a:ext cx="3070860" cy="4130040"/>
          </a:xfrm>
          <a:prstGeom prst="roundRect">
            <a:avLst>
              <a:gd name="adj" fmla="val 5583"/>
            </a:avLst>
          </a:prstGeom>
          <a:solidFill>
            <a:srgbClr val="18233D"/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0580" y="4225925"/>
            <a:ext cx="2522220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750" spc="-390" kern="0" dirty="0">
                <a:solidFill>
                  <a:srgbClr val="FDBA7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4640580" y="5411788"/>
            <a:ext cx="252222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Risk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4640580" y="5948997"/>
            <a:ext cx="252222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Adaptive, industry-specific assessments and recommendations.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08570" y="3875405"/>
            <a:ext cx="3070860" cy="4130040"/>
          </a:xfrm>
          <a:prstGeom prst="roundRect">
            <a:avLst>
              <a:gd name="adj" fmla="val 5583"/>
            </a:avLst>
          </a:prstGeom>
          <a:solidFill>
            <a:srgbClr val="18233D"/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20990" y="4225925"/>
            <a:ext cx="2522220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750" spc="-390" kern="0" dirty="0">
                <a:solidFill>
                  <a:srgbClr val="93C5F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0" dirty="0"/>
          </a:p>
        </p:txBody>
      </p:sp>
      <p:sp>
        <p:nvSpPr>
          <p:cNvPr id="15" name="Text 13"/>
          <p:cNvSpPr/>
          <p:nvPr/>
        </p:nvSpPr>
        <p:spPr>
          <a:xfrm>
            <a:off x="7920990" y="5411788"/>
            <a:ext cx="252222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Incident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7920990" y="5948997"/>
            <a:ext cx="252222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Queue-based reporting with status, ownership, and audit trail.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888980" y="3875405"/>
            <a:ext cx="3070860" cy="4130040"/>
          </a:xfrm>
          <a:prstGeom prst="roundRect">
            <a:avLst>
              <a:gd name="adj" fmla="val 5583"/>
            </a:avLst>
          </a:prstGeom>
          <a:solidFill>
            <a:srgbClr val="18233D"/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01400" y="4225925"/>
            <a:ext cx="2522220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750" spc="-390" kern="0" dirty="0">
                <a:solidFill>
                  <a:srgbClr val="C4ECD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</a:t>
            </a:r>
            <a:endParaRPr lang="en-US" sz="9750" dirty="0"/>
          </a:p>
        </p:txBody>
      </p:sp>
      <p:sp>
        <p:nvSpPr>
          <p:cNvPr id="19" name="Text 17"/>
          <p:cNvSpPr/>
          <p:nvPr/>
        </p:nvSpPr>
        <p:spPr>
          <a:xfrm>
            <a:off x="11201400" y="5411788"/>
            <a:ext cx="252222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Asset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1201400" y="5948997"/>
            <a:ext cx="252222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customers, suppliers, devices, and vehicles in one ledger.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4169390" y="3875405"/>
            <a:ext cx="3070860" cy="4130040"/>
          </a:xfrm>
          <a:prstGeom prst="roundRect">
            <a:avLst>
              <a:gd name="adj" fmla="val 5583"/>
            </a:avLst>
          </a:prstGeom>
          <a:solidFill>
            <a:srgbClr val="18233D"/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81810" y="4225925"/>
            <a:ext cx="2522220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750" spc="-390" kern="0" dirty="0">
                <a:solidFill>
                  <a:srgbClr val="FDE68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</a:t>
            </a:r>
            <a:endParaRPr lang="en-US" sz="9750" dirty="0"/>
          </a:p>
        </p:txBody>
      </p:sp>
      <p:sp>
        <p:nvSpPr>
          <p:cNvPr id="23" name="Text 21"/>
          <p:cNvSpPr/>
          <p:nvPr/>
        </p:nvSpPr>
        <p:spPr>
          <a:xfrm>
            <a:off x="14481810" y="5411788"/>
            <a:ext cx="252222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Management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4481810" y="5948997"/>
            <a:ext cx="252222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approvals, audit, and the dashboard that ties it together.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662589"/>
            <a:ext cx="55387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 —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96879" y="1662589"/>
            <a:ext cx="10315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2279809"/>
            <a:ext cx="6433072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Living documents, not binders.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4204494"/>
            <a:ext cx="3970738" cy="1931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24"/>
              </a:lnSpc>
              <a:buNone/>
            </a:pPr>
            <a:r>
              <a:rPr lang="en-US" sz="21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policy has a status, a version, an effective date, and a paper trail of who acknowledged it. Drafts stay drafts until you publish.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6498431"/>
            <a:ext cx="6245701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6701314"/>
            <a:ext cx="5219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703070" y="6639401"/>
            <a:ext cx="507837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→ Published → Acknowledged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47750" y="7229951"/>
            <a:ext cx="6245701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7432834"/>
            <a:ext cx="5219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703070" y="7370921"/>
            <a:ext cx="46413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&amp; tags for fast filtering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8692991"/>
            <a:ext cx="6245701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7750" y="7961471"/>
            <a:ext cx="6245701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8164354"/>
            <a:ext cx="5219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03070" y="8102441"/>
            <a:ext cx="55775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 modules: HIPAA, GDPR, SOC 2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55451" y="2526189"/>
            <a:ext cx="9184799" cy="5310664"/>
          </a:xfrm>
          <a:prstGeom prst="roundRect">
            <a:avLst>
              <a:gd name="adj" fmla="val 2511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  <a:effectLst>
            <a:outerShdw sx="100000" sy="100000" kx="0" ky="0" algn="bl" rotWithShape="0" blurRad="762000" dist="285750" dir="5400000">
              <a:srgbClr val="0F6E5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3071" y="2533809"/>
            <a:ext cx="9169559" cy="350520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18" name="Shape 16"/>
          <p:cNvSpPr/>
          <p:nvPr/>
        </p:nvSpPr>
        <p:spPr>
          <a:xfrm>
            <a:off x="8063071" y="2876709"/>
            <a:ext cx="9169559" cy="9525"/>
          </a:xfrm>
          <a:prstGeom prst="rect">
            <a:avLst/>
          </a:prstGeom>
          <a:solidFill>
            <a:srgbClr val="E6DFCF"/>
          </a:solidFill>
          <a:ln/>
        </p:spPr>
      </p:sp>
      <p:sp>
        <p:nvSpPr>
          <p:cNvPr id="19" name="Shape 17"/>
          <p:cNvSpPr/>
          <p:nvPr/>
        </p:nvSpPr>
        <p:spPr>
          <a:xfrm>
            <a:off x="8215471" y="2652871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396446" y="2652871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77421" y="2652871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3071" y="2884329"/>
            <a:ext cx="9169559" cy="494490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429038" y="9745980"/>
            <a:ext cx="88741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E96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55387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 —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96879" y="914400"/>
            <a:ext cx="24645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ASSESSMENT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0284610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Questionnaires that adapt to your industry, not yours to a checklist.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3684905"/>
            <a:ext cx="4255576" cy="125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2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NAICS code at signup. PRIAM only asks what's relevant.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5130800"/>
            <a:ext cx="2655729" cy="449580"/>
          </a:xfrm>
          <a:prstGeom prst="roundRect">
            <a:avLst>
              <a:gd name="adj" fmla="val 50000"/>
            </a:avLst>
          </a:prstGeom>
          <a:solidFill>
            <a:srgbClr val="0F6E56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5226050"/>
            <a:ext cx="23544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(DAG engine)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855879" y="5130800"/>
            <a:ext cx="1884362" cy="449580"/>
          </a:xfrm>
          <a:prstGeom prst="roundRect">
            <a:avLst>
              <a:gd name="adj" fmla="val 50000"/>
            </a:avLst>
          </a:prstGeom>
          <a:solidFill>
            <a:srgbClr val="FB923C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046379" y="5226050"/>
            <a:ext cx="157956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NAICS-tailored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892641" y="5130800"/>
            <a:ext cx="1630998" cy="449580"/>
          </a:xfrm>
          <a:prstGeom prst="roundRect">
            <a:avLst>
              <a:gd name="adj" fmla="val 50000"/>
            </a:avLst>
          </a:prstGeom>
          <a:solidFill>
            <a:srgbClr val="0F6E56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83141" y="5226050"/>
            <a:ext cx="132619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Audit-trailed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5732780"/>
            <a:ext cx="2196782" cy="449580"/>
          </a:xfrm>
          <a:prstGeom prst="roundRect">
            <a:avLst>
              <a:gd name="adj" fmla="val 50000"/>
            </a:avLst>
          </a:prstGeom>
          <a:solidFill>
            <a:srgbClr val="FB923C">
              <a:alpha val="1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828030"/>
            <a:ext cx="189198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6-month retention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47750" y="6525260"/>
            <a:ext cx="4825581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A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feed downstream — change one input, see the score and recommendations update on the spot.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986679" y="3684905"/>
            <a:ext cx="8253571" cy="1442085"/>
          </a:xfrm>
          <a:prstGeom prst="roundRect">
            <a:avLst>
              <a:gd name="adj" fmla="val 10568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7199" y="3997325"/>
            <a:ext cx="777910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Without PRIAM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337199" y="4458335"/>
            <a:ext cx="7779107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400-question generic checklist.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8986679" y="5317490"/>
            <a:ext cx="8253571" cy="1783080"/>
          </a:xfrm>
          <a:prstGeom prst="roundRect">
            <a:avLst>
              <a:gd name="adj" fmla="val 8547"/>
            </a:avLst>
          </a:prstGeom>
          <a:solidFill>
            <a:srgbClr val="0F6E56"/>
          </a:solidFill>
          <a:ln/>
        </p:spPr>
      </p:sp>
      <p:sp>
        <p:nvSpPr>
          <p:cNvPr id="19" name="Text 17"/>
          <p:cNvSpPr/>
          <p:nvPr/>
        </p:nvSpPr>
        <p:spPr>
          <a:xfrm>
            <a:off x="9329579" y="5622290"/>
            <a:ext cx="77948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C4EC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PRIAM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329579" y="6083300"/>
            <a:ext cx="7794804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Roughly 50 questions. Only the ones that apply to a 12-person retailer in Oregon.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23542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78426" y="914400"/>
            <a:ext cx="41000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RESULTS &amp; RECOMMENDATIONS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1219573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score, a matrix, and a prioritized list of fixes.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627755"/>
            <a:ext cx="7715250" cy="5821045"/>
          </a:xfrm>
          <a:prstGeom prst="roundRect">
            <a:avLst>
              <a:gd name="adj" fmla="val 2291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5370" y="3635375"/>
            <a:ext cx="7700010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5370" y="3978275"/>
            <a:ext cx="770001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07770" y="3754438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88745" y="3754438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69720" y="3754438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3985895"/>
            <a:ext cx="7700010" cy="377539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525000" y="3627755"/>
            <a:ext cx="7715250" cy="5821045"/>
          </a:xfrm>
          <a:prstGeom prst="roundRect">
            <a:avLst>
              <a:gd name="adj" fmla="val 2291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532620" y="3635375"/>
            <a:ext cx="7700010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532620" y="3978275"/>
            <a:ext cx="770001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685020" y="3754438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9865995" y="3754438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046970" y="3754438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2620" y="3985895"/>
            <a:ext cx="7700010" cy="22601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429038" y="9745980"/>
            <a:ext cx="88741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4F1EA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55387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—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96879" y="914400"/>
            <a:ext cx="31160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 MANAGEMENT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0284610" cy="79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queue, not an inbox.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703512"/>
            <a:ext cx="7636034" cy="795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24"/>
              </a:lnSpc>
              <a:buNone/>
            </a:pPr>
            <a:r>
              <a:rPr lang="en-US" sz="210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incident has an owner at every stage. BullMQ-backed transitions, immutable audit trail, automatic notifications.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4032568"/>
            <a:ext cx="3314700" cy="1866900"/>
          </a:xfrm>
          <a:prstGeom prst="roundRect">
            <a:avLst>
              <a:gd name="adj" fmla="val 7143"/>
            </a:avLst>
          </a:prstGeom>
          <a:solidFill>
            <a:srgbClr val="0F6E56">
              <a:alpha val="10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3020" y="4306888"/>
            <a:ext cx="28882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SUBMITTED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03020" y="4649788"/>
            <a:ext cx="288828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Submitted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03020" y="5118418"/>
            <a:ext cx="2888285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4F1E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on the team can report — public or private.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4286250" y="4032568"/>
            <a:ext cx="3314700" cy="1866900"/>
          </a:xfrm>
          <a:prstGeom prst="roundRect">
            <a:avLst>
              <a:gd name="adj" fmla="val 7143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1520" y="4306888"/>
            <a:ext cx="28882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TRIAGE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41520" y="4649788"/>
            <a:ext cx="288828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Unassigned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41520" y="5118418"/>
            <a:ext cx="2888285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4F1E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to the right team based on category.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7524750" y="4032568"/>
            <a:ext cx="3314700" cy="1866900"/>
          </a:xfrm>
          <a:prstGeom prst="roundRect">
            <a:avLst>
              <a:gd name="adj" fmla="val 7143"/>
            </a:avLst>
          </a:prstGeom>
          <a:solidFill>
            <a:srgbClr val="0F6E56">
              <a:alpha val="10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80020" y="4306888"/>
            <a:ext cx="28882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OWNED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80020" y="4649788"/>
            <a:ext cx="288828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Assigned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80020" y="5118418"/>
            <a:ext cx="2888285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4F1E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owner with priority and SLA.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0763250" y="4032568"/>
            <a:ext cx="3314700" cy="1866900"/>
          </a:xfrm>
          <a:prstGeom prst="roundRect">
            <a:avLst>
              <a:gd name="adj" fmla="val 7143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18520" y="4306888"/>
            <a:ext cx="28882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— IN MOTION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018520" y="4649788"/>
            <a:ext cx="288828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Active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018520" y="5118418"/>
            <a:ext cx="2888285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4F1E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Comments, status updates, and edits — all logged.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14001750" y="4032568"/>
            <a:ext cx="3314700" cy="1866900"/>
          </a:xfrm>
          <a:prstGeom prst="roundRect">
            <a:avLst>
              <a:gd name="adj" fmla="val 7143"/>
            </a:avLst>
          </a:prstGeom>
          <a:solidFill>
            <a:srgbClr val="0F6E56">
              <a:alpha val="10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257020" y="4306888"/>
            <a:ext cx="28882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— DONE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257020" y="4649788"/>
            <a:ext cx="288828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Resolved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257020" y="5118418"/>
            <a:ext cx="2888285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4F1E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with a reason. Re-openable if it returns.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047750" y="6242368"/>
            <a:ext cx="8990806" cy="4663757"/>
          </a:xfrm>
          <a:prstGeom prst="roundRect">
            <a:avLst>
              <a:gd name="adj" fmla="val 2859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55370" y="6249988"/>
            <a:ext cx="8975566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5370" y="6592888"/>
            <a:ext cx="897556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07770" y="6369050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88745" y="6369050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69720" y="6369050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6600508"/>
            <a:ext cx="8975566" cy="429799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10324306" y="6242368"/>
            <a:ext cx="6915944" cy="4663757"/>
          </a:xfrm>
          <a:prstGeom prst="roundRect">
            <a:avLst>
              <a:gd name="adj" fmla="val 2859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331926" y="6249988"/>
            <a:ext cx="6900704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0331926" y="6592888"/>
            <a:ext cx="6900704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0484326" y="6369050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0665301" y="6369050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0846276" y="6369050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926" y="6600508"/>
            <a:ext cx="6900704" cy="27235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23542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78426" y="914400"/>
            <a:ext cx="15092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ANALYTICS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1219573" cy="79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See patterns, not just events.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703512"/>
            <a:ext cx="7330593" cy="795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24"/>
              </a:lnSpc>
              <a:buNone/>
            </a:pPr>
            <a:r>
              <a:rPr lang="en-US" sz="210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lost devices in a month is a procurement problem, not three tickets.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3918268"/>
            <a:ext cx="16192500" cy="5530532"/>
          </a:xfrm>
          <a:prstGeom prst="roundRect">
            <a:avLst>
              <a:gd name="adj" fmla="val 2411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5370" y="3925888"/>
            <a:ext cx="16177260" cy="112395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5370" y="4030663"/>
            <a:ext cx="1617726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07770" y="3925888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88745" y="3925888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69720" y="3925888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5370" y="4038283"/>
            <a:ext cx="16177260" cy="85556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55387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—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96879" y="914400"/>
            <a:ext cx="262404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ASSET MANAGEMENT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1219573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Five things every business has. One place to track them all.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799205"/>
            <a:ext cx="3025140" cy="2556510"/>
          </a:xfrm>
          <a:prstGeom prst="roundRect">
            <a:avLst>
              <a:gd name="adj" fmla="val 5961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170" y="4149725"/>
            <a:ext cx="533400" cy="53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0170" y="4888865"/>
            <a:ext cx="24765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DCAA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Employees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1360170" y="5445125"/>
            <a:ext cx="247650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F4F1E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departments, onboarding status.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4339590" y="3799205"/>
            <a:ext cx="3025140" cy="2556510"/>
          </a:xfrm>
          <a:prstGeom prst="roundRect">
            <a:avLst>
              <a:gd name="adj" fmla="val 5961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4149725"/>
            <a:ext cx="533400" cy="533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2010" y="4888865"/>
            <a:ext cx="24765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DCAA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Customers</a:t>
            </a:r>
            <a:endParaRPr lang="en-US" sz="2850" dirty="0"/>
          </a:p>
        </p:txBody>
      </p:sp>
      <p:sp>
        <p:nvSpPr>
          <p:cNvPr id="12" name="Text 8"/>
          <p:cNvSpPr/>
          <p:nvPr/>
        </p:nvSpPr>
        <p:spPr>
          <a:xfrm>
            <a:off x="4652010" y="5445125"/>
            <a:ext cx="247650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F4F1E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NAICS-coded with verification workflow.</a:t>
            </a:r>
            <a:endParaRPr lang="en-US" sz="1575" dirty="0"/>
          </a:p>
        </p:txBody>
      </p:sp>
      <p:sp>
        <p:nvSpPr>
          <p:cNvPr id="13" name="Shape 9"/>
          <p:cNvSpPr/>
          <p:nvPr/>
        </p:nvSpPr>
        <p:spPr>
          <a:xfrm>
            <a:off x="7631430" y="3799205"/>
            <a:ext cx="3025140" cy="2556510"/>
          </a:xfrm>
          <a:prstGeom prst="roundRect">
            <a:avLst>
              <a:gd name="adj" fmla="val 5961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0" y="4149725"/>
            <a:ext cx="533400" cy="533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43850" y="4888865"/>
            <a:ext cx="24765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DCAA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Suppliers</a:t>
            </a:r>
            <a:endParaRPr lang="en-US" sz="2850" dirty="0"/>
          </a:p>
        </p:txBody>
      </p:sp>
      <p:sp>
        <p:nvSpPr>
          <p:cNvPr id="16" name="Text 11"/>
          <p:cNvSpPr/>
          <p:nvPr/>
        </p:nvSpPr>
        <p:spPr>
          <a:xfrm>
            <a:off x="7943850" y="5445125"/>
            <a:ext cx="247650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F4F1E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Approval-gated entries, audit-ready.</a:t>
            </a:r>
            <a:endParaRPr lang="en-US" sz="1575" dirty="0"/>
          </a:p>
        </p:txBody>
      </p:sp>
      <p:sp>
        <p:nvSpPr>
          <p:cNvPr id="17" name="Shape 12"/>
          <p:cNvSpPr/>
          <p:nvPr/>
        </p:nvSpPr>
        <p:spPr>
          <a:xfrm>
            <a:off x="10923270" y="3799205"/>
            <a:ext cx="3025140" cy="2556510"/>
          </a:xfrm>
          <a:prstGeom prst="roundRect">
            <a:avLst>
              <a:gd name="adj" fmla="val 5961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5690" y="4149725"/>
            <a:ext cx="533400" cy="533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235690" y="4888865"/>
            <a:ext cx="24765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DCAA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Devices</a:t>
            </a:r>
            <a:endParaRPr lang="en-US" sz="2850" dirty="0"/>
          </a:p>
        </p:txBody>
      </p:sp>
      <p:sp>
        <p:nvSpPr>
          <p:cNvPr id="20" name="Text 14"/>
          <p:cNvSpPr/>
          <p:nvPr/>
        </p:nvSpPr>
        <p:spPr>
          <a:xfrm>
            <a:off x="11235690" y="5445125"/>
            <a:ext cx="247650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F4F1E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Computers, phones, peripherals.</a:t>
            </a:r>
            <a:endParaRPr lang="en-US" sz="1575" dirty="0"/>
          </a:p>
        </p:txBody>
      </p:sp>
      <p:sp>
        <p:nvSpPr>
          <p:cNvPr id="21" name="Shape 15"/>
          <p:cNvSpPr/>
          <p:nvPr/>
        </p:nvSpPr>
        <p:spPr>
          <a:xfrm>
            <a:off x="14215110" y="3799205"/>
            <a:ext cx="3025140" cy="2556510"/>
          </a:xfrm>
          <a:prstGeom prst="roundRect">
            <a:avLst>
              <a:gd name="adj" fmla="val 5961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27530" y="4149725"/>
            <a:ext cx="533400" cy="533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527530" y="4888865"/>
            <a:ext cx="24765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DCAA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Vehicles</a:t>
            </a:r>
            <a:endParaRPr lang="en-US" sz="2850" dirty="0"/>
          </a:p>
        </p:txBody>
      </p:sp>
      <p:sp>
        <p:nvSpPr>
          <p:cNvPr id="24" name="Text 17"/>
          <p:cNvSpPr/>
          <p:nvPr/>
        </p:nvSpPr>
        <p:spPr>
          <a:xfrm>
            <a:off x="14527530" y="5445125"/>
            <a:ext cx="247650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F4F1E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records and assignments.</a:t>
            </a:r>
            <a:endParaRPr lang="en-US" sz="1575" dirty="0"/>
          </a:p>
        </p:txBody>
      </p:sp>
      <p:sp>
        <p:nvSpPr>
          <p:cNvPr id="25" name="Shape 18"/>
          <p:cNvSpPr/>
          <p:nvPr/>
        </p:nvSpPr>
        <p:spPr>
          <a:xfrm>
            <a:off x="1047750" y="6698615"/>
            <a:ext cx="16192500" cy="2750185"/>
          </a:xfrm>
          <a:prstGeom prst="roundRect">
            <a:avLst>
              <a:gd name="adj" fmla="val 4849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055370" y="6706235"/>
            <a:ext cx="16177260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1055370" y="7049135"/>
            <a:ext cx="1617726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1207770" y="6825297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1388745" y="6825297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1569720" y="6825297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55370" y="7056755"/>
            <a:ext cx="1617726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8E8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23542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78426" y="914400"/>
            <a:ext cx="50840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HIPAA &amp; DATA PRIVACY ASSESSMENT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2837656"/>
            <a:ext cx="7392237" cy="229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guided assessment for the people on the front line.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047750" y="5515134"/>
            <a:ext cx="6414268" cy="1553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24"/>
              </a:lnSpc>
              <a:buNone/>
            </a:pPr>
            <a:r>
              <a:rPr lang="en-US" sz="21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HIPAA &amp; Data Privacy refreshers — built into PRIAM. Coaches and case workers take a 25-question, 30-minute assessment. Pass at 80% and a Certificate of Completion is generated automatically.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2070" y="7258844"/>
            <a:ext cx="710648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buSzPct val="100000"/>
              <a:buChar char="•"/>
            </a:pPr>
            <a:r>
              <a:rPr lang="en-US" sz="12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questions </a:t>
            </a:r>
            <a:pPr algn="l" indent="0" marL="0">
              <a:buNone/>
            </a:pPr>
            <a:r>
              <a:rPr lang="en-US" sz="1200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multiple choice + short answer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2070" y="7441724"/>
            <a:ext cx="710648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buSzPct val="100000"/>
              <a:buChar char="•"/>
            </a:pPr>
            <a:r>
              <a:rPr lang="en-US" sz="12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</a:t>
            </a:r>
            <a:pPr algn="l" indent="0" marL="0">
              <a:buNone/>
            </a:pPr>
            <a:r>
              <a:rPr lang="en-US" sz="1200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window with autosave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2070" y="7624604"/>
            <a:ext cx="710648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buSzPct val="100000"/>
              <a:buChar char="•"/>
            </a:pPr>
            <a:r>
              <a:rPr lang="en-US" sz="12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to pass </a:t>
            </a:r>
            <a:pPr algn="l" indent="0" marL="0">
              <a:buNone/>
            </a:pPr>
            <a:r>
              <a:rPr lang="en-US" sz="1200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explanations after every attempt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2070" y="7807484"/>
            <a:ext cx="710648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buSzPct val="100000"/>
              <a:buChar char="•"/>
            </a:pPr>
            <a:r>
              <a:rPr lang="en-US" sz="12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</a:t>
            </a:r>
            <a:pPr algn="l" indent="0" marL="0">
              <a:buNone/>
            </a:pPr>
            <a:r>
              <a:rPr lang="en-US" sz="1200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the moment you pass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86679" y="3222307"/>
            <a:ext cx="8253571" cy="4535646"/>
          </a:xfrm>
          <a:prstGeom prst="roundRect">
            <a:avLst>
              <a:gd name="adj" fmla="val 2940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94299" y="3229928"/>
            <a:ext cx="8238331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94299" y="3572827"/>
            <a:ext cx="8238331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6699" y="3348990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27674" y="3348990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08649" y="3348990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4299" y="3580447"/>
            <a:ext cx="8238331" cy="41698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23542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78426" y="914400"/>
            <a:ext cx="344406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TAKING THE ASSESSMENT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1219573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Plain-language scenarios. Saved as you go.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3456305"/>
            <a:ext cx="7664158" cy="1092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987"/>
              </a:lnSpc>
              <a:buNone/>
            </a:pPr>
            <a:r>
              <a:rPr lang="en-US" sz="19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Multiple-choice and short-answer prompts drawn from the situations social-services teams actually run into — with a question palette so participants can jump back to anything still unanswered.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5025549"/>
            <a:ext cx="7981950" cy="4398169"/>
          </a:xfrm>
          <a:prstGeom prst="roundRect">
            <a:avLst>
              <a:gd name="adj" fmla="val 3032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5370" y="5033169"/>
            <a:ext cx="7966710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5370" y="5376069"/>
            <a:ext cx="796671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07770" y="5152231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88745" y="5152231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69720" y="5152231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5383689"/>
            <a:ext cx="7966710" cy="403240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258300" y="5025549"/>
            <a:ext cx="7981950" cy="4398169"/>
          </a:xfrm>
          <a:prstGeom prst="roundRect">
            <a:avLst>
              <a:gd name="adj" fmla="val 3032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265920" y="5033169"/>
            <a:ext cx="7966710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265920" y="5376069"/>
            <a:ext cx="796671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9418320" y="5152231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599295" y="5152231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780270" y="5152231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920" y="5383689"/>
            <a:ext cx="7966710" cy="40324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23542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78426" y="914400"/>
            <a:ext cx="36080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RESULTS &amp; EXPLANATIONS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0284610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score, and the reason behind every answer.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3456305"/>
            <a:ext cx="7072570" cy="687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14"/>
              </a:lnSpc>
              <a:buNone/>
            </a:pPr>
            <a:r>
              <a:rPr lang="en-US" sz="18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you pass or not, every question gets an explanation — so the assessment doubles as training. Retakes are one click away.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4543742"/>
            <a:ext cx="7425055" cy="10575925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  <a:effectLst>
            <a:outerShdw sx="100000" sy="100000" kx="0" ky="0" algn="bl" rotWithShape="0" blurRad="762000" dist="285750" dir="5400000">
              <a:srgbClr val="0F6E5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5370" y="4551362"/>
            <a:ext cx="7409815" cy="350520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8" name="Shape 6"/>
          <p:cNvSpPr/>
          <p:nvPr/>
        </p:nvSpPr>
        <p:spPr>
          <a:xfrm>
            <a:off x="1055370" y="4894262"/>
            <a:ext cx="7409815" cy="9525"/>
          </a:xfrm>
          <a:prstGeom prst="rect">
            <a:avLst/>
          </a:prstGeom>
          <a:solidFill>
            <a:srgbClr val="E6DFCF"/>
          </a:solidFill>
          <a:ln/>
        </p:spPr>
      </p:sp>
      <p:sp>
        <p:nvSpPr>
          <p:cNvPr id="9" name="Shape 7"/>
          <p:cNvSpPr/>
          <p:nvPr/>
        </p:nvSpPr>
        <p:spPr>
          <a:xfrm>
            <a:off x="1207770" y="4670425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88745" y="4670425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69720" y="4670425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4901882"/>
            <a:ext cx="7409815" cy="375046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701405" y="4543742"/>
            <a:ext cx="8538845" cy="10575925"/>
          </a:xfrm>
          <a:prstGeom prst="roundRect">
            <a:avLst>
              <a:gd name="adj" fmla="val 1562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709025" y="4551362"/>
            <a:ext cx="8523605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709025" y="4894262"/>
            <a:ext cx="8523605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861425" y="4670425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042400" y="4670425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223375" y="4670425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025" y="4901882"/>
            <a:ext cx="8523605" cy="102101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8723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2015331" y="914400"/>
            <a:ext cx="426407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HIPAA PARTICIPANT TRACKING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1219573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 admins: who's invited, in progress, passed.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3456305"/>
            <a:ext cx="7664158" cy="179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987"/>
              </a:lnSpc>
              <a:buNone/>
            </a:pPr>
            <a:r>
              <a:rPr lang="en-US" sz="19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participant dashboard surfaces invited, in-progress, completed, and failed counts — plus a pass-rate and average-score readout. Compliance leads see assessment status across every tenant they administer, with drill-downs by company, participant, and report.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5671661"/>
            <a:ext cx="16192500" cy="3777139"/>
          </a:xfrm>
          <a:prstGeom prst="roundRect">
            <a:avLst>
              <a:gd name="adj" fmla="val 3530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5370" y="5679281"/>
            <a:ext cx="16177260" cy="112395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5370" y="5784056"/>
            <a:ext cx="1617726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07770" y="5679281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88745" y="5679281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69720" y="5679281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5370" y="5791676"/>
            <a:ext cx="16177260" cy="44178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27844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⌘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1448" y="929640"/>
            <a:ext cx="37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 ADMINISTRATION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46860"/>
            <a:ext cx="10284610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control plane behind every tenant.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3471545"/>
            <a:ext cx="7096442" cy="1092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987"/>
              </a:lnSpc>
              <a:buNone/>
            </a:pPr>
            <a:r>
              <a:rPr lang="en-US" sz="19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master policy templates, define recommendation rules, import from a built-in catalog, and govern the HIPAA programme — all from a single admin portal.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5040789"/>
            <a:ext cx="8676481" cy="7005003"/>
          </a:xfrm>
          <a:prstGeom prst="roundRect">
            <a:avLst>
              <a:gd name="adj" fmla="val 1904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  <a:effectLst>
            <a:outerShdw sx="100000" sy="100000" kx="0" ky="0" algn="bl" rotWithShape="0" blurRad="762000" dist="285750" dir="5400000">
              <a:srgbClr val="0F6E5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5370" y="5048409"/>
            <a:ext cx="8661241" cy="350520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8" name="Shape 6"/>
          <p:cNvSpPr/>
          <p:nvPr/>
        </p:nvSpPr>
        <p:spPr>
          <a:xfrm>
            <a:off x="1055370" y="5391309"/>
            <a:ext cx="8661241" cy="9525"/>
          </a:xfrm>
          <a:prstGeom prst="rect">
            <a:avLst/>
          </a:prstGeom>
          <a:solidFill>
            <a:srgbClr val="E6DFCF"/>
          </a:solidFill>
          <a:ln/>
        </p:spPr>
      </p:sp>
      <p:sp>
        <p:nvSpPr>
          <p:cNvPr id="9" name="Shape 7"/>
          <p:cNvSpPr/>
          <p:nvPr/>
        </p:nvSpPr>
        <p:spPr>
          <a:xfrm>
            <a:off x="1207770" y="5167471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88745" y="5167471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69720" y="5167471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5398929"/>
            <a:ext cx="8661241" cy="663924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009981" y="5040789"/>
            <a:ext cx="7230269" cy="1626870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84301" y="5353209"/>
            <a:ext cx="68820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TEMPLATES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284301" y="5696109"/>
            <a:ext cx="68820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Author once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0284301" y="6115209"/>
            <a:ext cx="688207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policies with placeholders for tenant-specific values.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0009981" y="6801009"/>
            <a:ext cx="7230269" cy="1626870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84301" y="7113429"/>
            <a:ext cx="68820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284301" y="7456329"/>
            <a:ext cx="68820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Recommend smartly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10284301" y="7875429"/>
            <a:ext cx="688207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Industry, jurisdiction, and business-flag-driven matches.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0009981" y="8561229"/>
            <a:ext cx="7230269" cy="1626870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84301" y="8873649"/>
            <a:ext cx="68820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CATALOG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0284301" y="9216549"/>
            <a:ext cx="68820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Import in bulk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0284301" y="9635649"/>
            <a:ext cx="688207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ready-made templates with rules attached.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27844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⌘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1448" y="929640"/>
            <a:ext cx="442808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TEMPLATES · RULES · CATALOG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46860"/>
            <a:ext cx="11219573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From one master template to the right policy for every tenant.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3471545"/>
            <a:ext cx="7858411" cy="1012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14"/>
              </a:lnSpc>
              <a:buNone/>
            </a:pPr>
            <a:r>
              <a:rPr lang="en-US" sz="180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 template once with placeholders. Attach rules — NAICS code, state, business flags. Tenants see only the policies that match their profile, ready to publish.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4902676"/>
            <a:ext cx="3933825" cy="5728970"/>
          </a:xfrm>
          <a:prstGeom prst="roundRect">
            <a:avLst>
              <a:gd name="adj" fmla="val 3390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5370" y="4910296"/>
            <a:ext cx="3918585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5370" y="5253196"/>
            <a:ext cx="3918585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07770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88745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69720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5370" y="5260816"/>
            <a:ext cx="3918585" cy="49860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10342086"/>
            <a:ext cx="376144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4F1EA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AUTHOR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5133975" y="4902676"/>
            <a:ext cx="3933825" cy="5728970"/>
          </a:xfrm>
          <a:prstGeom prst="roundRect">
            <a:avLst>
              <a:gd name="adj" fmla="val 3390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41595" y="4910296"/>
            <a:ext cx="3918585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141595" y="5253196"/>
            <a:ext cx="3918585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293995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474970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655945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41595" y="5260816"/>
            <a:ext cx="3918585" cy="49860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74945" y="10342086"/>
            <a:ext cx="376144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4F1EA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RULE LIST</a:t>
            </a:r>
            <a:endParaRPr lang="en-US" sz="975" dirty="0"/>
          </a:p>
        </p:txBody>
      </p:sp>
      <p:sp>
        <p:nvSpPr>
          <p:cNvPr id="22" name="Shape 18"/>
          <p:cNvSpPr/>
          <p:nvPr/>
        </p:nvSpPr>
        <p:spPr>
          <a:xfrm>
            <a:off x="9220200" y="4902676"/>
            <a:ext cx="3933825" cy="5728970"/>
          </a:xfrm>
          <a:prstGeom prst="roundRect">
            <a:avLst>
              <a:gd name="adj" fmla="val 3390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227820" y="4910296"/>
            <a:ext cx="3918585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9227820" y="5253196"/>
            <a:ext cx="3918585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9380220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9561195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9742170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27820" y="5260816"/>
            <a:ext cx="3918585" cy="49860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361170" y="10342086"/>
            <a:ext cx="376144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4F1EA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MATCH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13306425" y="4902676"/>
            <a:ext cx="3933825" cy="5728970"/>
          </a:xfrm>
          <a:prstGeom prst="roundRect">
            <a:avLst>
              <a:gd name="adj" fmla="val 3390"/>
            </a:avLst>
          </a:prstGeom>
          <a:solidFill>
            <a:srgbClr val="111A2E"/>
          </a:solidFill>
          <a:ln w="7620">
            <a:solidFill>
              <a:srgbClr val="C4ECDC">
                <a:alpha val="1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4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13314045" y="4910296"/>
            <a:ext cx="3918585" cy="3505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13314045" y="5253196"/>
            <a:ext cx="3918585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13466445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13647420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5" name="Shape 30"/>
          <p:cNvSpPr/>
          <p:nvPr/>
        </p:nvSpPr>
        <p:spPr>
          <a:xfrm>
            <a:off x="13828395" y="5029359"/>
            <a:ext cx="104775" cy="10477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3314045" y="5260816"/>
            <a:ext cx="3918585" cy="49860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3447395" y="10342086"/>
            <a:ext cx="376144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4F1EA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IMPORT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55387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 —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96879" y="914400"/>
            <a:ext cx="278805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ROLES &amp; APPROVALS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1219573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Five built-in roles. Sensible defaults out of the box.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875405"/>
            <a:ext cx="3562350" cy="575310"/>
          </a:xfrm>
          <a:prstGeom prst="rect">
            <a:avLst/>
          </a:prstGeom>
          <a:solidFill>
            <a:srgbClr val="0F6E56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4443095"/>
            <a:ext cx="356235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4046855"/>
            <a:ext cx="3250121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0100" y="3875405"/>
            <a:ext cx="1576388" cy="575310"/>
          </a:xfrm>
          <a:prstGeom prst="rect">
            <a:avLst/>
          </a:prstGeom>
          <a:solidFill>
            <a:srgbClr val="0F6E56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610100" y="4443095"/>
            <a:ext cx="1576388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19650" y="4046855"/>
            <a:ext cx="1233488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VIEW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86488" y="3875405"/>
            <a:ext cx="2655570" cy="575310"/>
          </a:xfrm>
          <a:prstGeom prst="rect">
            <a:avLst/>
          </a:prstGeom>
          <a:solidFill>
            <a:srgbClr val="0F6E56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86488" y="444309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96038" y="4046855"/>
            <a:ext cx="2316137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 ASSET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842057" y="3875405"/>
            <a:ext cx="3518853" cy="575310"/>
          </a:xfrm>
          <a:prstGeom prst="rect">
            <a:avLst/>
          </a:prstGeom>
          <a:solidFill>
            <a:srgbClr val="0F6E56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42057" y="4443095"/>
            <a:ext cx="3518853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051607" y="4046855"/>
            <a:ext cx="3205318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 EMPLOYEE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2360911" y="3875405"/>
            <a:ext cx="2223770" cy="575310"/>
          </a:xfrm>
          <a:prstGeom prst="rect">
            <a:avLst/>
          </a:prstGeom>
          <a:solidFill>
            <a:srgbClr val="0F6E56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360911" y="4443095"/>
            <a:ext cx="22237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570461" y="4046855"/>
            <a:ext cx="1880870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APPROVE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4584680" y="3875405"/>
            <a:ext cx="2655570" cy="575310"/>
          </a:xfrm>
          <a:prstGeom prst="rect">
            <a:avLst/>
          </a:prstGeom>
          <a:solidFill>
            <a:srgbClr val="0F6E56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584680" y="444309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4794230" y="4046855"/>
            <a:ext cx="2316137" cy="26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47750" y="5151755"/>
            <a:ext cx="356235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57300" y="4622165"/>
            <a:ext cx="325012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Super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4610100" y="5151755"/>
            <a:ext cx="1576388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19650" y="4622165"/>
            <a:ext cx="123348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186488" y="515175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96038" y="4622165"/>
            <a:ext cx="231613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842057" y="5151755"/>
            <a:ext cx="3518853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051607" y="4622165"/>
            <a:ext cx="320531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360911" y="5151755"/>
            <a:ext cx="22237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2570461" y="4622165"/>
            <a:ext cx="188087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4584680" y="515175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4794230" y="4622165"/>
            <a:ext cx="231613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47750" y="5860415"/>
            <a:ext cx="356235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257300" y="5330825"/>
            <a:ext cx="325012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Admin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4610100" y="5860415"/>
            <a:ext cx="1576388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19650" y="5330825"/>
            <a:ext cx="123348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186488" y="586041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96038" y="5330825"/>
            <a:ext cx="231613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842057" y="5860415"/>
            <a:ext cx="3518853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051607" y="5330825"/>
            <a:ext cx="320531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360911" y="5860415"/>
            <a:ext cx="22237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2570461" y="5330825"/>
            <a:ext cx="188087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4584680" y="586041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4794230" y="5330825"/>
            <a:ext cx="231613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47750" y="6569075"/>
            <a:ext cx="356235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257300" y="6039485"/>
            <a:ext cx="325012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Manager</a:t>
            </a:r>
            <a:endParaRPr lang="en-US" sz="2250" dirty="0"/>
          </a:p>
        </p:txBody>
      </p:sp>
      <p:sp>
        <p:nvSpPr>
          <p:cNvPr id="49" name="Shape 47"/>
          <p:cNvSpPr/>
          <p:nvPr/>
        </p:nvSpPr>
        <p:spPr>
          <a:xfrm>
            <a:off x="4610100" y="6569075"/>
            <a:ext cx="1576388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819650" y="6039485"/>
            <a:ext cx="123348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186488" y="656907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96038" y="6039485"/>
            <a:ext cx="231613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842057" y="6569075"/>
            <a:ext cx="3518853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051607" y="6039485"/>
            <a:ext cx="320531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2360911" y="6569075"/>
            <a:ext cx="22237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2570461" y="6039485"/>
            <a:ext cx="188087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4584680" y="656907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4794230" y="6039485"/>
            <a:ext cx="231613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047750" y="7277735"/>
            <a:ext cx="356235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257300" y="6748145"/>
            <a:ext cx="325012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Employee</a:t>
            </a:r>
            <a:endParaRPr lang="en-US" sz="2250" dirty="0"/>
          </a:p>
        </p:txBody>
      </p:sp>
      <p:sp>
        <p:nvSpPr>
          <p:cNvPr id="61" name="Shape 59"/>
          <p:cNvSpPr/>
          <p:nvPr/>
        </p:nvSpPr>
        <p:spPr>
          <a:xfrm>
            <a:off x="4610100" y="7277735"/>
            <a:ext cx="1576388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819650" y="6748145"/>
            <a:ext cx="123348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6186488" y="727773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396038" y="6748145"/>
            <a:ext cx="231613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1350" b="1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842057" y="7277735"/>
            <a:ext cx="3518853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9051607" y="6748145"/>
            <a:ext cx="320531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2360911" y="7277735"/>
            <a:ext cx="22237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2570461" y="6748145"/>
            <a:ext cx="188087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4584680" y="727773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4794230" y="6748145"/>
            <a:ext cx="231613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047750" y="7986395"/>
            <a:ext cx="356235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257300" y="7456805"/>
            <a:ext cx="325012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Viewer</a:t>
            </a:r>
            <a:endParaRPr lang="en-US" sz="2250" dirty="0"/>
          </a:p>
        </p:txBody>
      </p:sp>
      <p:sp>
        <p:nvSpPr>
          <p:cNvPr id="73" name="Shape 71"/>
          <p:cNvSpPr/>
          <p:nvPr/>
        </p:nvSpPr>
        <p:spPr>
          <a:xfrm>
            <a:off x="4610100" y="7986395"/>
            <a:ext cx="1576388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819650" y="7456805"/>
            <a:ext cx="123348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6186488" y="798639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6396038" y="7456805"/>
            <a:ext cx="231613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8842057" y="7986395"/>
            <a:ext cx="3518853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9051607" y="7456805"/>
            <a:ext cx="320531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2360911" y="7986395"/>
            <a:ext cx="22237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12570461" y="7456805"/>
            <a:ext cx="188087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4584680" y="7986395"/>
            <a:ext cx="2655570" cy="9525"/>
          </a:xfrm>
          <a:prstGeom prst="rect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4794230" y="7456805"/>
            <a:ext cx="231613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9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047750" y="8302625"/>
            <a:ext cx="166782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A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can </a:t>
            </a:r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5A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A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and suppliers — admins flip them from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A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active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A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55387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 —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96879" y="914400"/>
            <a:ext cx="16684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ONBOARDING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1219573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From signup to your first assessment in under five minutes.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875405"/>
            <a:ext cx="3848100" cy="2301240"/>
          </a:xfrm>
          <a:prstGeom prst="roundRect">
            <a:avLst>
              <a:gd name="adj" fmla="val 6623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2070" y="4187825"/>
            <a:ext cx="33984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2070" y="4530725"/>
            <a:ext cx="339844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Register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2070" y="5018405"/>
            <a:ext cx="339844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company name, industry, and state. That's the form.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2070" y="5666105"/>
            <a:ext cx="339844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90 seconds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62550" y="3875405"/>
            <a:ext cx="3848100" cy="2301240"/>
          </a:xfrm>
          <a:prstGeom prst="roundRect">
            <a:avLst>
              <a:gd name="adj" fmla="val 6623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6870" y="4187825"/>
            <a:ext cx="33984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36870" y="4530725"/>
            <a:ext cx="339844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Verify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36870" y="5018405"/>
            <a:ext cx="339844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Token-based email verification. No phone tree.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36870" y="5666105"/>
            <a:ext cx="339844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30 seconds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77350" y="3875405"/>
            <a:ext cx="3848100" cy="2301240"/>
          </a:xfrm>
          <a:prstGeom prst="roundRect">
            <a:avLst>
              <a:gd name="adj" fmla="val 6623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1670" y="4187825"/>
            <a:ext cx="33984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551670" y="4530725"/>
            <a:ext cx="339844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Invite team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51670" y="5018405"/>
            <a:ext cx="339844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admins and employees with role-scoped invites.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51670" y="5666105"/>
            <a:ext cx="339844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 60 seconds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392150" y="3875405"/>
            <a:ext cx="3848100" cy="2301240"/>
          </a:xfrm>
          <a:prstGeom prst="roundRect">
            <a:avLst>
              <a:gd name="adj" fmla="val 6623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666470" y="4187825"/>
            <a:ext cx="33984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666470" y="4530725"/>
            <a:ext cx="339844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Start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666470" y="5018405"/>
            <a:ext cx="339844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is already tailored to your NAICS.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666470" y="5666105"/>
            <a:ext cx="339844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ready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7750" y="6538595"/>
            <a:ext cx="7962900" cy="5341302"/>
          </a:xfrm>
          <a:prstGeom prst="roundRect">
            <a:avLst>
              <a:gd name="adj" fmla="val 2497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  <a:effectLst>
            <a:outerShdw sx="100000" sy="100000" kx="0" ky="0" algn="bl" rotWithShape="0" blurRad="762000" dist="285750" dir="5400000">
              <a:srgbClr val="0F6E56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5370" y="6546215"/>
            <a:ext cx="7947660" cy="350520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5370" y="6889115"/>
            <a:ext cx="7947660" cy="9525"/>
          </a:xfrm>
          <a:prstGeom prst="rect">
            <a:avLst/>
          </a:prstGeom>
          <a:solidFill>
            <a:srgbClr val="E6DFCF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7770" y="6665277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88745" y="6665277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69720" y="6665277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6896735"/>
            <a:ext cx="7947660" cy="4419283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9277350" y="6538595"/>
            <a:ext cx="7962900" cy="5341302"/>
          </a:xfrm>
          <a:prstGeom prst="roundRect">
            <a:avLst>
              <a:gd name="adj" fmla="val 2497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  <a:effectLst>
            <a:outerShdw sx="100000" sy="100000" kx="0" ky="0" algn="bl" rotWithShape="0" blurRad="762000" dist="285750" dir="5400000">
              <a:srgbClr val="0F6E56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284970" y="6546215"/>
            <a:ext cx="7947660" cy="350520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34" name="Shape 31"/>
          <p:cNvSpPr/>
          <p:nvPr/>
        </p:nvSpPr>
        <p:spPr>
          <a:xfrm>
            <a:off x="9284970" y="6889115"/>
            <a:ext cx="7947660" cy="9525"/>
          </a:xfrm>
          <a:prstGeom prst="rect">
            <a:avLst/>
          </a:prstGeom>
          <a:solidFill>
            <a:srgbClr val="E6DFCF"/>
          </a:solidFill>
          <a:ln/>
        </p:spPr>
      </p:sp>
      <p:sp>
        <p:nvSpPr>
          <p:cNvPr id="35" name="Shape 32"/>
          <p:cNvSpPr/>
          <p:nvPr/>
        </p:nvSpPr>
        <p:spPr>
          <a:xfrm>
            <a:off x="9437370" y="6665277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9618345" y="6665277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9799320" y="6665277"/>
            <a:ext cx="104775" cy="104775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970" y="6896735"/>
            <a:ext cx="7947660" cy="49755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66782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PRACTICE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55420"/>
            <a:ext cx="11219573" cy="79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typical week with PRIAM.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2627312"/>
            <a:ext cx="7096442" cy="741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987"/>
              </a:lnSpc>
              <a:buNone/>
            </a:pPr>
            <a:r>
              <a:rPr lang="en-US" sz="19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two-minute check-ins. Occasionally a deeper assessment. Always one place to look.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825875"/>
            <a:ext cx="3101340" cy="4930140"/>
          </a:xfrm>
          <a:prstGeom prst="roundRect">
            <a:avLst>
              <a:gd name="adj" fmla="val 4914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3970" y="4100195"/>
            <a:ext cx="27077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MONDAY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83970" y="4481195"/>
            <a:ext cx="15240" cy="838200"/>
          </a:xfrm>
          <a:prstGeom prst="rect">
            <a:avLst/>
          </a:prstGeom>
          <a:solidFill>
            <a:srgbClr val="1B9678"/>
          </a:solidFill>
          <a:ln/>
        </p:spPr>
      </p:sp>
      <p:sp>
        <p:nvSpPr>
          <p:cNvPr id="8" name="Text 6"/>
          <p:cNvSpPr/>
          <p:nvPr/>
        </p:nvSpPr>
        <p:spPr>
          <a:xfrm>
            <a:off x="1432560" y="4481195"/>
            <a:ext cx="2556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check-in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32560" y="4812665"/>
            <a:ext cx="1960563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dashboard. 0 pending policy ack.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83970" y="5471795"/>
            <a:ext cx="15240" cy="838200"/>
          </a:xfrm>
          <a:prstGeom prst="rect">
            <a:avLst/>
          </a:prstGeom>
          <a:solidFill>
            <a:srgbClr val="E6DFCF"/>
          </a:solidFill>
          <a:ln/>
        </p:spPr>
      </p:sp>
      <p:sp>
        <p:nvSpPr>
          <p:cNvPr id="11" name="Text 9"/>
          <p:cNvSpPr/>
          <p:nvPr/>
        </p:nvSpPr>
        <p:spPr>
          <a:xfrm>
            <a:off x="1432560" y="5471795"/>
            <a:ext cx="2556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new hire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2560" y="5803265"/>
            <a:ext cx="2045176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invites; admin approves.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20540" y="3825875"/>
            <a:ext cx="3101340" cy="4930140"/>
          </a:xfrm>
          <a:prstGeom prst="roundRect">
            <a:avLst>
              <a:gd name="adj" fmla="val 4914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6760" y="4100195"/>
            <a:ext cx="27077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TUESDAY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56760" y="4481195"/>
            <a:ext cx="15240" cy="838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4705350" y="4481195"/>
            <a:ext cx="2556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email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5350" y="4812665"/>
            <a:ext cx="2076926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files incident. Auto-routed to 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93330" y="3825875"/>
            <a:ext cx="3101340" cy="4930140"/>
          </a:xfrm>
          <a:prstGeom prst="roundRect">
            <a:avLst>
              <a:gd name="adj" fmla="val 4914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29550" y="4100195"/>
            <a:ext cx="27077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WEDNESDAY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829550" y="4481195"/>
            <a:ext cx="15240" cy="838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978140" y="4481195"/>
            <a:ext cx="2556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assessment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78140" y="4812665"/>
            <a:ext cx="215074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rises 8 pts on data privacy.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29550" y="5471795"/>
            <a:ext cx="15240" cy="838200"/>
          </a:xfrm>
          <a:prstGeom prst="rect">
            <a:avLst/>
          </a:prstGeom>
          <a:solidFill>
            <a:srgbClr val="E6DFCF"/>
          </a:solidFill>
          <a:ln/>
        </p:spPr>
      </p:sp>
      <p:sp>
        <p:nvSpPr>
          <p:cNvPr id="24" name="Text 22"/>
          <p:cNvSpPr/>
          <p:nvPr/>
        </p:nvSpPr>
        <p:spPr>
          <a:xfrm>
            <a:off x="7978140" y="5471795"/>
            <a:ext cx="2556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new suppliers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78140" y="5803265"/>
            <a:ext cx="190754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 by ops, awaiting verification.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866120" y="3825875"/>
            <a:ext cx="3101340" cy="4930140"/>
          </a:xfrm>
          <a:prstGeom prst="roundRect">
            <a:avLst>
              <a:gd name="adj" fmla="val 4914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02340" y="4100195"/>
            <a:ext cx="27077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THURSDAY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102340" y="4481195"/>
            <a:ext cx="15240" cy="838200"/>
          </a:xfrm>
          <a:prstGeom prst="rect">
            <a:avLst/>
          </a:prstGeom>
          <a:solidFill>
            <a:srgbClr val="1B9678"/>
          </a:solidFill>
          <a:ln/>
        </p:spPr>
      </p:sp>
      <p:sp>
        <p:nvSpPr>
          <p:cNvPr id="29" name="Text 27"/>
          <p:cNvSpPr/>
          <p:nvPr/>
        </p:nvSpPr>
        <p:spPr>
          <a:xfrm>
            <a:off x="11250930" y="4481195"/>
            <a:ext cx="2556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update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250930" y="4812665"/>
            <a:ext cx="248951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remote-work policy goes from draft to published.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4138910" y="3825875"/>
            <a:ext cx="3101340" cy="4930140"/>
          </a:xfrm>
          <a:prstGeom prst="roundRect">
            <a:avLst>
              <a:gd name="adj" fmla="val 4914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375130" y="4100195"/>
            <a:ext cx="27077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FRIDAY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4375130" y="4481195"/>
            <a:ext cx="15240" cy="838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4" name="Text 32"/>
          <p:cNvSpPr/>
          <p:nvPr/>
        </p:nvSpPr>
        <p:spPr>
          <a:xfrm>
            <a:off x="14523720" y="4481195"/>
            <a:ext cx="2556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laptop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523720" y="4812665"/>
            <a:ext cx="227806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Reported, asset record flagged, manager notified.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4375130" y="5471795"/>
            <a:ext cx="15240" cy="838200"/>
          </a:xfrm>
          <a:prstGeom prst="rect">
            <a:avLst/>
          </a:prstGeom>
          <a:solidFill>
            <a:srgbClr val="1B9678"/>
          </a:solidFill>
          <a:ln/>
        </p:spPr>
      </p:sp>
      <p:sp>
        <p:nvSpPr>
          <p:cNvPr id="37" name="Text 35"/>
          <p:cNvSpPr/>
          <p:nvPr/>
        </p:nvSpPr>
        <p:spPr>
          <a:xfrm>
            <a:off x="14523720" y="5471795"/>
            <a:ext cx="2556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E12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523720" y="5803265"/>
            <a:ext cx="2402681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Tuesday's phishing incident closed by IT lead.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3946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37653" y="914400"/>
            <a:ext cx="10315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US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8414680" cy="229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reasons PRIAM fits where enterprise GRC doesn't.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4628197"/>
            <a:ext cx="7943850" cy="2052637"/>
          </a:xfrm>
          <a:prstGeom prst="roundRect">
            <a:avLst>
              <a:gd name="adj" fmla="val 8353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5016818"/>
            <a:ext cx="74208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SIMPLICITY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17320" y="5435918"/>
            <a:ext cx="74208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Intuitive on day one.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17320" y="5988368"/>
            <a:ext cx="7420852" cy="341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consultant rollout. Your office manager can drive it.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296400" y="4628197"/>
            <a:ext cx="7943850" cy="2052637"/>
          </a:xfrm>
          <a:prstGeom prst="roundRect">
            <a:avLst>
              <a:gd name="adj" fmla="val 8353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65970" y="5016818"/>
            <a:ext cx="74208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ADAPTIVE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65970" y="5435918"/>
            <a:ext cx="74208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Industry-tailored questionnaires.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65970" y="5988368"/>
            <a:ext cx="7420852" cy="341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NAICS-aware DAG engine asks only what's relevant.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47750" y="6985635"/>
            <a:ext cx="7943850" cy="2052637"/>
          </a:xfrm>
          <a:prstGeom prst="roundRect">
            <a:avLst>
              <a:gd name="adj" fmla="val 8353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7374255"/>
            <a:ext cx="74208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QUEUE-BASED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17320" y="7793355"/>
            <a:ext cx="74208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Incidents have owners, not inboxes.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417320" y="8345805"/>
            <a:ext cx="7420852" cy="341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BullMQ-backed transitions, audit trail, notifications.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296400" y="6985635"/>
            <a:ext cx="7943850" cy="2052637"/>
          </a:xfrm>
          <a:prstGeom prst="roundRect">
            <a:avLst>
              <a:gd name="adj" fmla="val 8353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65970" y="7374255"/>
            <a:ext cx="74208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— ASSEMBLED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65970" y="7793355"/>
            <a:ext cx="74208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Policy, risk, incident, asset — together.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665970" y="8345805"/>
            <a:ext cx="7420852" cy="341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login. One source of truth. Recommendations that connect.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47750" y="9745980"/>
            <a:ext cx="171608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PRIAM </a:t>
            </a:r>
            <a:pPr algn="l" indent="0" marL="0">
              <a:buNone/>
            </a:pPr>
            <a:r>
              <a:rPr lang="en-US" sz="1200" spc="192" kern="0" dirty="0">
                <a:solidFill>
                  <a:srgbClr val="F4F1EA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3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3946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37653" y="914400"/>
            <a:ext cx="19869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1219573" cy="79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Multi-tenant by design.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703512"/>
            <a:ext cx="7636034" cy="795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24"/>
              </a:lnSpc>
              <a:buNone/>
            </a:pPr>
            <a:r>
              <a:rPr lang="en-US" sz="210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record carries a tenant ID. Isolation is enforced at the database query layer — not bolted on at the application edge.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4108768"/>
            <a:ext cx="3919537" cy="2606040"/>
          </a:xfrm>
          <a:prstGeom prst="roundRect">
            <a:avLst>
              <a:gd name="adj" fmla="val 511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4920" y="4364038"/>
            <a:ext cx="35897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Northwind Retail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4920" y="4821238"/>
            <a:ext cx="358975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F4F1EA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tenant_a91f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64920" y="5190808"/>
            <a:ext cx="1470660" cy="274320"/>
          </a:xfrm>
          <a:prstGeom prst="roundRect">
            <a:avLst>
              <a:gd name="adj" fmla="val 20833"/>
            </a:avLst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60170" y="5228908"/>
            <a:ext cx="135636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employees · 23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64920" y="5522277"/>
            <a:ext cx="1379220" cy="274320"/>
          </a:xfrm>
          <a:prstGeom prst="roundRect">
            <a:avLst>
              <a:gd name="adj" fmla="val 20833"/>
            </a:avLst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60170" y="5560377"/>
            <a:ext cx="126492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incidents ·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64920" y="5853747"/>
            <a:ext cx="1287780" cy="274320"/>
          </a:xfrm>
          <a:prstGeom prst="roundRect">
            <a:avLst>
              <a:gd name="adj" fmla="val 20833"/>
            </a:avLst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60170" y="5891847"/>
            <a:ext cx="117348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policies · 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38738" y="4108768"/>
            <a:ext cx="3919537" cy="2606040"/>
          </a:xfrm>
          <a:prstGeom prst="roundRect">
            <a:avLst>
              <a:gd name="adj" fmla="val 511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5907" y="4364038"/>
            <a:ext cx="35897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Cedar &amp; Co.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355907" y="4821238"/>
            <a:ext cx="358975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F4F1EA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tenant_b30c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55907" y="5190808"/>
            <a:ext cx="1470660" cy="274320"/>
          </a:xfrm>
          <a:prstGeom prst="roundRect">
            <a:avLst>
              <a:gd name="adj" fmla="val 20833"/>
            </a:avLst>
          </a:prstGeom>
          <a:solidFill>
            <a:srgbClr val="0F6E56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51157" y="5228908"/>
            <a:ext cx="135636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employees · 11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55907" y="5522277"/>
            <a:ext cx="1379220" cy="274320"/>
          </a:xfrm>
          <a:prstGeom prst="roundRect">
            <a:avLst>
              <a:gd name="adj" fmla="val 20833"/>
            </a:avLst>
          </a:prstGeom>
          <a:solidFill>
            <a:srgbClr val="0F6E56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51157" y="5560377"/>
            <a:ext cx="126492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incidents · 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55907" y="5853747"/>
            <a:ext cx="1287780" cy="274320"/>
          </a:xfrm>
          <a:prstGeom prst="roundRect">
            <a:avLst>
              <a:gd name="adj" fmla="val 20833"/>
            </a:avLst>
          </a:prstGeom>
          <a:solidFill>
            <a:srgbClr val="0F6E56">
              <a:alpha val="1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51157" y="5891847"/>
            <a:ext cx="117348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policies · 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29725" y="4108768"/>
            <a:ext cx="3919537" cy="2606040"/>
          </a:xfrm>
          <a:prstGeom prst="roundRect">
            <a:avLst>
              <a:gd name="adj" fmla="val 511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6895" y="4364038"/>
            <a:ext cx="35897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Mendoza Logistics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446895" y="4821238"/>
            <a:ext cx="358975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F4F1EA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tenant_c7e2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46895" y="5190808"/>
            <a:ext cx="1470660" cy="274320"/>
          </a:xfrm>
          <a:prstGeom prst="roundRect">
            <a:avLst>
              <a:gd name="adj" fmla="val 20833"/>
            </a:avLst>
          </a:prstGeom>
          <a:solidFill>
            <a:srgbClr val="0F6E56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542145" y="5228908"/>
            <a:ext cx="135636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employees · 48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46895" y="5522277"/>
            <a:ext cx="1379220" cy="274320"/>
          </a:xfrm>
          <a:prstGeom prst="roundRect">
            <a:avLst>
              <a:gd name="adj" fmla="val 20833"/>
            </a:avLst>
          </a:prstGeom>
          <a:solidFill>
            <a:srgbClr val="0F6E56">
              <a:alpha val="1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542145" y="5560377"/>
            <a:ext cx="126492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incidents · 9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46895" y="5853747"/>
            <a:ext cx="1379220" cy="274320"/>
          </a:xfrm>
          <a:prstGeom prst="roundRect">
            <a:avLst>
              <a:gd name="adj" fmla="val 20833"/>
            </a:avLst>
          </a:prstGeom>
          <a:solidFill>
            <a:srgbClr val="0F6E56">
              <a:alpha val="1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542145" y="5891847"/>
            <a:ext cx="126492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policies · 12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3320713" y="4108768"/>
            <a:ext cx="3919537" cy="2606040"/>
          </a:xfrm>
          <a:prstGeom prst="roundRect">
            <a:avLst>
              <a:gd name="adj" fmla="val 5117"/>
            </a:avLst>
          </a:prstGeom>
          <a:solidFill>
            <a:srgbClr val="FB923C">
              <a:alpha val="12000"/>
            </a:srgbClr>
          </a:solidFill>
          <a:ln w="762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537883" y="4364038"/>
            <a:ext cx="35897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DBA7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Your business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3537883" y="4821238"/>
            <a:ext cx="358975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F4F1EA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tenant_xxxx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3537883" y="5190808"/>
            <a:ext cx="922020" cy="274320"/>
          </a:xfrm>
          <a:prstGeom prst="roundRect">
            <a:avLst>
              <a:gd name="adj" fmla="val 20833"/>
            </a:avLst>
          </a:prstGeom>
          <a:solidFill>
            <a:srgbClr val="FB923C">
              <a:alpha val="1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3633133" y="5228908"/>
            <a:ext cx="80772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isolated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537883" y="5522277"/>
            <a:ext cx="1013460" cy="274320"/>
          </a:xfrm>
          <a:prstGeom prst="roundRect">
            <a:avLst>
              <a:gd name="adj" fmla="val 20833"/>
            </a:avLst>
          </a:prstGeom>
          <a:solidFill>
            <a:srgbClr val="FB923C">
              <a:alpha val="1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3633133" y="5560377"/>
            <a:ext cx="89916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encrypted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3537883" y="5853747"/>
            <a:ext cx="830580" cy="274320"/>
          </a:xfrm>
          <a:prstGeom prst="roundRect">
            <a:avLst>
              <a:gd name="adj" fmla="val 20833"/>
            </a:avLst>
          </a:prstGeom>
          <a:solidFill>
            <a:srgbClr val="FB923C">
              <a:alpha val="1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3633133" y="5891847"/>
            <a:ext cx="71628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audited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3946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37653" y="914400"/>
            <a:ext cx="39360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&amp; DATA HANDLING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11219573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Boring, dependable security primitives.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875405"/>
            <a:ext cx="7943850" cy="1910239"/>
          </a:xfrm>
          <a:prstGeom prst="roundRect">
            <a:avLst>
              <a:gd name="adj" fmla="val 8975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8270" y="4225925"/>
            <a:ext cx="7460095" cy="28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243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98270" y="4626927"/>
            <a:ext cx="746009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Firebase Authentication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98270" y="5145088"/>
            <a:ext cx="7460095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Industry-standard auth, MFA-ready, with token-based session management.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296400" y="3875405"/>
            <a:ext cx="7943850" cy="1910239"/>
          </a:xfrm>
          <a:prstGeom prst="roundRect">
            <a:avLst>
              <a:gd name="adj" fmla="val 8975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6920" y="4225925"/>
            <a:ext cx="7460095" cy="28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243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AUTHORIZATION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46920" y="4626927"/>
            <a:ext cx="746009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RBAC at the API layer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646920" y="5145088"/>
            <a:ext cx="7460095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API route runs through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withAuth </a:t>
            </a:r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4F1E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checkAccess</a:t>
            </a:r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047750" y="6090444"/>
            <a:ext cx="7943850" cy="1910239"/>
          </a:xfrm>
          <a:prstGeom prst="roundRect">
            <a:avLst>
              <a:gd name="adj" fmla="val 8975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8270" y="6440964"/>
            <a:ext cx="7460095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243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98270" y="6841966"/>
            <a:ext cx="746009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Immutable trails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398270" y="7360126"/>
            <a:ext cx="7460095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evaluations and incident transitions log to append-only collections.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296400" y="6090444"/>
            <a:ext cx="7943850" cy="1910239"/>
          </a:xfrm>
          <a:prstGeom prst="roundRect">
            <a:avLst>
              <a:gd name="adj" fmla="val 8975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6440964"/>
            <a:ext cx="7460095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243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RETENTION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46920" y="6841966"/>
            <a:ext cx="746009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Lifecycle defaults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646920" y="7360126"/>
            <a:ext cx="7460095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assessments expire after 6 months; tenants can extend per record.</a:t>
            </a:r>
            <a:endParaRPr lang="en-US" sz="15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3946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37653" y="914400"/>
            <a:ext cx="182768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WHAT'S NEXT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531620"/>
            <a:ext cx="8414680" cy="79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Roadmap.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515042"/>
            <a:ext cx="5194300" cy="15240"/>
          </a:xfrm>
          <a:prstGeom prst="rect">
            <a:avLst/>
          </a:prstGeom>
          <a:solidFill>
            <a:srgbClr val="5DCAA5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122612"/>
            <a:ext cx="535012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 — Q2 '26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01065" y="3739832"/>
            <a:ext cx="5417185" cy="166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management + acknowledgement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risk assessment (DAG engine)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Queue-based incident workflow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registry &amp; RBAC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46850" y="3515042"/>
            <a:ext cx="5194300" cy="15240"/>
          </a:xfrm>
          <a:prstGeom prst="rect">
            <a:avLst/>
          </a:prstGeom>
          <a:solidFill>
            <a:srgbClr val="60A5FA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546850" y="3122612"/>
            <a:ext cx="535012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— Q3 '26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165" y="3739832"/>
            <a:ext cx="5417185" cy="166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change workflows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rules &amp; digest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&amp; SOC 2 add-on packs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&amp; Teams integration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2045950" y="3515042"/>
            <a:ext cx="5194300" cy="15240"/>
          </a:xfrm>
          <a:prstGeom prst="rect">
            <a:avLst/>
          </a:prstGeom>
          <a:solidFill>
            <a:srgbClr val="FB923C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045950" y="3122612"/>
            <a:ext cx="535012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LATER — Q4 '26+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99265" y="3739832"/>
            <a:ext cx="5417185" cy="166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API &amp; webhooks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risk scoring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incident reporting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1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packs: retail, logistics, healthcare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8E8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66782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AUDIENCE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455420"/>
            <a:ext cx="10284610" cy="1543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91"/>
              </a:lnSpc>
              <a:buNone/>
            </a:pPr>
            <a:r>
              <a:rPr lang="en-US" sz="5700" spc="-125" kern="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If you're wearing the compliance hat — this is for you.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3799205"/>
            <a:ext cx="7962900" cy="1931670"/>
          </a:xfrm>
          <a:prstGeom prst="roundRect">
            <a:avLst>
              <a:gd name="adj" fmla="val 8876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8270" y="4149725"/>
            <a:ext cx="74797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5–50 EMPLOYEES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98270" y="4511675"/>
            <a:ext cx="747971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owner-operator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98270" y="5086985"/>
            <a:ext cx="747971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ops, compliance, and HR on the side of the actual business.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277350" y="3799205"/>
            <a:ext cx="7962900" cy="1931670"/>
          </a:xfrm>
          <a:prstGeom prst="roundRect">
            <a:avLst>
              <a:gd name="adj" fmla="val 8876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27870" y="4149725"/>
            <a:ext cx="74797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10–200 EMPLOYEES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27870" y="4511675"/>
            <a:ext cx="747971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ops lead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27870" y="5086985"/>
            <a:ext cx="747971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a dashboard that doesn't require a vendor relationship to interpret.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47750" y="5997575"/>
            <a:ext cx="7962900" cy="2225040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8270" y="6348095"/>
            <a:ext cx="74797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FIRST-TIME COMPLIANCE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98270" y="6710045"/>
            <a:ext cx="747971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founder under contract pressure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398270" y="7285355"/>
            <a:ext cx="7479716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asking "do you have a security program?" — needs one this quarter.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277350" y="5997575"/>
            <a:ext cx="7962900" cy="2225040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7620">
            <a:solidFill>
              <a:srgbClr val="E6D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7870" y="6348095"/>
            <a:ext cx="74797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REGULATED BY DEFAULT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27870" y="6710045"/>
            <a:ext cx="747971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E12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healthcare or fintech SMB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627870" y="7285355"/>
            <a:ext cx="747971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HIPAA / PCI / SOC 2 hooks without an enterprise GRC platform.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14400"/>
            <a:ext cx="1245394" cy="361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81401" y="931545"/>
            <a:ext cx="490161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" kern="0" dirty="0">
                <a:solidFill>
                  <a:srgbClr val="F4F1EA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PRIAM · RISK &amp; ASSET MANAGEMENT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047750" y="1638300"/>
            <a:ext cx="13182704" cy="117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94"/>
              </a:lnSpc>
              <a:buNone/>
            </a:pPr>
            <a:r>
              <a:rPr lang="en-US" sz="9300" spc="-260" kern="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Two ways to </a:t>
            </a:r>
            <a:pPr algn="l" indent="0" marL="0">
              <a:lnSpc>
                <a:spcPct val="95994"/>
              </a:lnSpc>
              <a:buNone/>
            </a:pPr>
            <a:r>
              <a:rPr lang="en-US" sz="9300" i="1" spc="-260" kern="0" dirty="0">
                <a:solidFill>
                  <a:srgbClr val="5DCAA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get started.</a:t>
            </a:r>
            <a:endParaRPr lang="en-US" sz="9300" dirty="0"/>
          </a:p>
        </p:txBody>
      </p:sp>
      <p:sp>
        <p:nvSpPr>
          <p:cNvPr id="5" name="Shape 2"/>
          <p:cNvSpPr/>
          <p:nvPr/>
        </p:nvSpPr>
        <p:spPr>
          <a:xfrm>
            <a:off x="1047750" y="3610292"/>
            <a:ext cx="7905750" cy="3436620"/>
          </a:xfrm>
          <a:prstGeom prst="roundRect">
            <a:avLst>
              <a:gd name="adj" fmla="val 6098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C4ECDC">
                <a:alpha val="14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31620" y="4151312"/>
            <a:ext cx="71461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spc="240" kern="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SELF-SERVE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31620" y="4589462"/>
            <a:ext cx="7146151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Start a free trial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531620" y="5320982"/>
            <a:ext cx="7146151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created in under five minutes. First assessment ready immediately. No card required for the trial.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31620" y="6132512"/>
            <a:ext cx="714615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5DC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priam.app/start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334500" y="3610292"/>
            <a:ext cx="7905750" cy="3436620"/>
          </a:xfrm>
          <a:prstGeom prst="roundRect">
            <a:avLst>
              <a:gd name="adj" fmla="val 6098"/>
            </a:avLst>
          </a:prstGeom>
          <a:solidFill>
            <a:srgbClr val="FB923C">
              <a:alpha val="18000"/>
            </a:srgbClr>
          </a:solidFill>
          <a:ln w="762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18370" y="4151312"/>
            <a:ext cx="71461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spc="240" kern="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GUIDED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818370" y="4589462"/>
            <a:ext cx="7146151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F4F1E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Book a 20-min walkthrough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9818370" y="5320982"/>
            <a:ext cx="7146151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set you up with sample data for your industry. You'll see exactly what your first month looks like.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818370" y="6132512"/>
            <a:ext cx="714615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DBA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priam.app/demo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04862" y="7504112"/>
            <a:ext cx="1667827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4F1EA">
                    <a:alpha val="78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Thank you.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2026-05-08T02:56:00Z</dcterms:created>
  <dcterms:modified xsi:type="dcterms:W3CDTF">2026-05-08T02:56:00Z</dcterms:modified>
</cp:coreProperties>
</file>